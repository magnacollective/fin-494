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Detecting Sentiment Cascades Across Stocks and Crypto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 494: Financial Technology &amp; Innovation</a:t>
            </a:r>
          </a:p>
          <a:p/>
          <a:p>
            <a:r>
              <a:t>Cruz Flores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Real-time Sentiment Cascade Detection Platform</a:t>
            </a:r>
          </a:p>
          <a:p>
            <a:pPr lvl="1">
              <a:defRPr sz="1600"/>
            </a:pPr>
            <a:r>
              <a:t>Detecting rapid emotional waves in online investor discussions</a:t>
            </a:r>
          </a:p>
          <a:p>
            <a:pPr lvl="1">
              <a:defRPr sz="1600"/>
            </a:pPr>
            <a:r>
              <a:t>Analyzing how sentiment spreads across social media precedes market volatility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Core Innovation:</a:t>
            </a:r>
          </a:p>
          <a:p>
            <a:pPr lvl="1">
              <a:defRPr sz="1600"/>
            </a:pPr>
            <a:r>
              <a:t>Hybrid sentiment analysis (VADER + FinBERT)</a:t>
            </a:r>
          </a:p>
          <a:p>
            <a:pPr lvl="1">
              <a:defRPr sz="1600"/>
            </a:pPr>
            <a:r>
              <a:t>Multi-signal cascade detection algorithm</a:t>
            </a:r>
          </a:p>
          <a:p>
            <a:pPr lvl="1">
              <a:defRPr sz="1600"/>
            </a:pPr>
            <a:r>
              <a:t>Adaptive thresholds for different asset classes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Deliverables:</a:t>
            </a:r>
          </a:p>
          <a:p>
            <a:pPr lvl="1">
              <a:defRPr sz="1600"/>
            </a:pPr>
            <a:r>
              <a:t>Academic research paper analyzing predictive power</a:t>
            </a:r>
          </a:p>
          <a:p>
            <a:pPr lvl="1">
              <a:defRPr sz="1600"/>
            </a:pPr>
            <a:r>
              <a:t>Production-ready dashboard with real-time monitoring</a:t>
            </a:r>
          </a:p>
          <a:p>
            <a:pPr lvl="1">
              <a:defRPr sz="1600"/>
            </a:pPr>
            <a:r>
              <a:t>Comparative analysis: Stocks vs. Crypto sentiment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Rise of Retail Investors &amp; Social Media</a:t>
            </a:r>
          </a:p>
          <a:p>
            <a:pPr lvl="1">
              <a:defRPr sz="1600"/>
            </a:pPr>
            <a:r>
              <a:t>2021 GameStop phenomenon showed social media's market impact</a:t>
            </a:r>
          </a:p>
          <a:p>
            <a:pPr lvl="1">
              <a:defRPr sz="1600"/>
            </a:pPr>
            <a:r>
              <a:t>Reddit, Twitter, StockTwits now influential in price discovery</a:t>
            </a:r>
          </a:p>
          <a:p>
            <a:pPr lvl="1">
              <a:defRPr sz="1600"/>
            </a:pPr>
            <a:r>
              <a:t>Retail trading accounts for 20-25% of market volume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Why This Matters:</a:t>
            </a:r>
          </a:p>
          <a:p>
            <a:pPr lvl="1">
              <a:defRPr sz="1600"/>
            </a:pPr>
            <a:r>
              <a:t>Traditional sentiment analysis too slow for modern markets</a:t>
            </a:r>
          </a:p>
          <a:p>
            <a:pPr lvl="1">
              <a:defRPr sz="1600"/>
            </a:pPr>
            <a:r>
              <a:t>Early detection of sentiment cascades = risk management tool</a:t>
            </a:r>
          </a:p>
          <a:p>
            <a:pPr lvl="1">
              <a:defRPr sz="1600"/>
            </a:pPr>
            <a:r>
              <a:t>Crypto vs. stocks provide unique behavioral comparison</a:t>
            </a:r>
          </a:p>
          <a:p>
            <a:pPr lvl="1">
              <a:defRPr sz="1600"/>
            </a:pPr>
            <a:r>
              <a:t>Academic gap: Limited research on multi-signal cascade detection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Potential Impact:</a:t>
            </a:r>
          </a:p>
          <a:p>
            <a:pPr lvl="1">
              <a:defRPr sz="1600"/>
            </a:pPr>
            <a:r>
              <a:t>Help regulators detect market manipulation</a:t>
            </a:r>
          </a:p>
          <a:p>
            <a:pPr lvl="1">
              <a:defRPr sz="1600"/>
            </a:pPr>
            <a:r>
              <a:t>Enable traders to avoid pump-and-dump schemes</a:t>
            </a:r>
          </a:p>
          <a:p>
            <a:pPr lvl="1">
              <a:defRPr sz="1600"/>
            </a:pPr>
            <a:r>
              <a:t>Advance understanding of digital-era market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 Work in This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Academic Research:</a:t>
            </a:r>
          </a:p>
          <a:p>
            <a:pPr lvl="1">
              <a:defRPr sz="1600"/>
            </a:pPr>
            <a:r>
              <a:t>Bollen et al. (2011): Twitter mood predicts stock market movements</a:t>
            </a:r>
          </a:p>
          <a:p>
            <a:pPr lvl="1">
              <a:defRPr sz="1600"/>
            </a:pPr>
            <a:r>
              <a:t>Sprenger et al. (2014): Relationship between tweets and trades</a:t>
            </a:r>
          </a:p>
          <a:p>
            <a:pPr lvl="1">
              <a:defRPr sz="1600"/>
            </a:pPr>
            <a:r>
              <a:t>Renault (2017): Intraday online investor sentiment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Industry Applications:</a:t>
            </a:r>
          </a:p>
          <a:p>
            <a:pPr lvl="1">
              <a:defRPr sz="1600"/>
            </a:pPr>
            <a:r>
              <a:t>Bloomberg Social Sentiment Index</a:t>
            </a:r>
          </a:p>
          <a:p>
            <a:pPr lvl="1">
              <a:defRPr sz="1600"/>
            </a:pPr>
            <a:r>
              <a:t>StockTwits sentiment indicators</a:t>
            </a:r>
          </a:p>
          <a:p>
            <a:pPr lvl="1">
              <a:defRPr sz="1600"/>
            </a:pPr>
            <a:r>
              <a:t>Crypto Fear &amp; Greed Index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Gaps Our Project Addresses:</a:t>
            </a:r>
          </a:p>
          <a:p>
            <a:pPr lvl="1">
              <a:defRPr sz="1600"/>
            </a:pPr>
            <a:r>
              <a:t>Most research focuses on aggregate sentiment, not velocity/cascades</a:t>
            </a:r>
          </a:p>
          <a:p>
            <a:pPr lvl="1">
              <a:defRPr sz="1600"/>
            </a:pPr>
            <a:r>
              <a:t>Limited cross-market comparison (stocks vs. crypto)</a:t>
            </a:r>
          </a:p>
          <a:p>
            <a:pPr lvl="1">
              <a:defRPr sz="1600"/>
            </a:pPr>
            <a:r>
              <a:t>Few studies on pump-and-dump pattern detection</a:t>
            </a:r>
          </a:p>
          <a:p>
            <a:pPr lvl="1">
              <a:defRPr sz="1600"/>
            </a:pPr>
            <a:r>
              <a:t>Lack of adaptive, asset-specific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Paper Outline (15-20 pages)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Introduction &amp; Literature Review (3-4 pages)</a:t>
            </a:r>
          </a:p>
          <a:p>
            <a:pPr lvl="1">
              <a:defRPr sz="1600"/>
            </a:pPr>
            <a:r>
              <a:t>Problem statement and research questions</a:t>
            </a:r>
          </a:p>
          <a:p>
            <a:pPr lvl="1">
              <a:defRPr sz="1600"/>
            </a:pPr>
            <a:r>
              <a:t>Review of sentiment analysis in finance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Methodology (4-5 pages)</a:t>
            </a:r>
          </a:p>
          <a:p>
            <a:pPr lvl="1">
              <a:defRPr sz="1600"/>
            </a:pPr>
            <a:r>
              <a:t>Data collection approach (Reddit, StockTwits, News)</a:t>
            </a:r>
          </a:p>
          <a:p>
            <a:pPr lvl="1">
              <a:defRPr sz="1600"/>
            </a:pPr>
            <a:r>
              <a:t>Hybrid sentiment analysis (VADER + FinBERT)</a:t>
            </a:r>
          </a:p>
          <a:p>
            <a:pPr lvl="1">
              <a:defRPr sz="1600"/>
            </a:pPr>
            <a:r>
              <a:t>Multi-signal cascade detection algorithm</a:t>
            </a:r>
          </a:p>
          <a:p>
            <a:pPr lvl="1">
              <a:defRPr sz="1600"/>
            </a:pPr>
            <a:r>
              <a:t>Adaptive baseline calculation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Data Analysis &amp; Results (5-6 pages)</a:t>
            </a:r>
          </a:p>
          <a:p>
            <a:pPr lvl="1">
              <a:defRPr sz="1600"/>
            </a:pPr>
            <a:r>
              <a:t>Cascade frequency and characteristics</a:t>
            </a:r>
          </a:p>
          <a:p>
            <a:pPr lvl="1">
              <a:defRPr sz="1600"/>
            </a:pPr>
            <a:r>
              <a:t>Predictive power analysis (sentiment → price volatility)</a:t>
            </a:r>
          </a:p>
          <a:p>
            <a:pPr lvl="1">
              <a:defRPr sz="1600"/>
            </a:pPr>
            <a:r>
              <a:t>Stocks vs. crypto comparison</a:t>
            </a:r>
          </a:p>
          <a:p>
            <a:pPr lvl="1">
              <a:defRPr sz="1600"/>
            </a:pPr>
            <a:r>
              <a:t>Pump-and-dump pattern detection results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Discussion &amp; Conclusion (3-4 pages)</a:t>
            </a:r>
          </a:p>
          <a:p>
            <a:pPr lvl="1">
              <a:defRPr sz="1600"/>
            </a:pPr>
            <a:r>
              <a:t>Interpretation of findings</a:t>
            </a:r>
          </a:p>
          <a:p>
            <a:pPr lvl="1">
              <a:defRPr sz="1600"/>
            </a:pPr>
            <a:r>
              <a:t>Limitations and future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Primary Question:</a:t>
            </a:r>
          </a:p>
          <a:p>
            <a:pPr lvl="1">
              <a:defRPr sz="1600"/>
            </a:pPr>
            <a:r>
              <a:t>Can sudden shifts in online investor sentiment serve as early-warning</a:t>
            </a:r>
          </a:p>
          <a:p>
            <a:pPr lvl="1">
              <a:defRPr sz="1600"/>
            </a:pPr>
            <a:r>
              <a:t>indicators of abnormal market activity?</a:t>
            </a:r>
          </a:p>
          <a:p>
            <a:pPr lvl="1">
              <a:defRPr sz="1600"/>
            </a:pPr>
            <a:r>
              <a:t>Do they behave differently between stocks and crypto?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Secondary Questions:</a:t>
            </a:r>
          </a:p>
          <a:p>
            <a:pPr lvl="1">
              <a:defRPr sz="1600"/>
            </a:pPr>
            <a:r>
              <a:t>When do sentiment cascades occur most frequently?</a:t>
            </a:r>
          </a:p>
          <a:p>
            <a:pPr lvl="1">
              <a:defRPr sz="1600"/>
            </a:pPr>
            <a:r>
              <a:t>How predictive are sentiment velocity spikes of price volatility?</a:t>
            </a:r>
          </a:p>
          <a:p>
            <a:pPr lvl="1">
              <a:defRPr sz="1600"/>
            </a:pPr>
            <a:r>
              <a:t>Do crypto cascades dissipate faster than stock cascades?</a:t>
            </a:r>
          </a:p>
          <a:p>
            <a:pPr lvl="1">
              <a:defRPr sz="1600"/>
            </a:pPr>
            <a:r>
              <a:t>Can we detect artificial hype (pump-and-dumps) using posting patterns?</a:t>
            </a:r>
          </a:p>
          <a:p>
            <a:pPr lvl="1">
              <a:defRPr sz="1600"/>
            </a:pPr>
            <a:r>
              <a:t>Does retail-institutional sentiment divergence predict reversals?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Hypotheses:</a:t>
            </a:r>
          </a:p>
          <a:p>
            <a:pPr lvl="1">
              <a:defRPr sz="1600"/>
            </a:pPr>
            <a:r>
              <a:t>H1: Sentiment cascades precede volatility by 30-90 minutes</a:t>
            </a:r>
          </a:p>
          <a:p>
            <a:pPr lvl="1">
              <a:defRPr sz="1600"/>
            </a:pPr>
            <a:r>
              <a:t>H2: Crypto cascades have 2-3× faster velocity than stocks</a:t>
            </a:r>
          </a:p>
          <a:p>
            <a:pPr lvl="1">
              <a:defRPr sz="1600"/>
            </a:pPr>
            <a:r>
              <a:t>H3: Volume-weighted sentiment is more predictive than raw sentiment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Asset Coverage:</a:t>
            </a:r>
          </a:p>
          <a:p>
            <a:pPr lvl="1">
              <a:defRPr sz="1600"/>
            </a:pPr>
            <a:r>
              <a:t>10 Stocks: GME, AMC, TSLA, NVDA, AAPL, MSFT, PLTR, BBBY, SPY, COIN</a:t>
            </a:r>
          </a:p>
          <a:p>
            <a:pPr lvl="1">
              <a:defRPr sz="1600"/>
            </a:pPr>
            <a:r>
              <a:t>5 Cryptocurrencies: BTC, ETH, DOGE, SHIB, SOL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 Collection (Every 30 minutes):</a:t>
            </a:r>
          </a:p>
          <a:p>
            <a:pPr lvl="1">
              <a:defRPr sz="1600"/>
            </a:pPr>
            <a:r>
              <a:t>Reddit API: r/wallstreetbets, r/stocks, r/cryptocurrency</a:t>
            </a:r>
          </a:p>
          <a:p>
            <a:pPr lvl="1">
              <a:defRPr sz="1600"/>
            </a:pPr>
            <a:r>
              <a:t>StockTwits API: Ticker-specific social sentiment</a:t>
            </a:r>
          </a:p>
          <a:p>
            <a:pPr lvl="1">
              <a:defRPr sz="1600"/>
            </a:pPr>
            <a:r>
              <a:t>NewsAPI: Financial news headlines</a:t>
            </a:r>
          </a:p>
          <a:p>
            <a:pPr lvl="1">
              <a:defRPr sz="1600"/>
            </a:pPr>
            <a:r>
              <a:t>Yahoo Finance (yfinance): Stock prices and volume</a:t>
            </a:r>
          </a:p>
          <a:p>
            <a:pPr lvl="1">
              <a:defRPr sz="1600"/>
            </a:pPr>
            <a:r>
              <a:t>CoinGecko API: Cryptocurrency prices and metrics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 Volume Expected:</a:t>
            </a:r>
          </a:p>
          <a:p>
            <a:pPr lvl="1">
              <a:defRPr sz="1600"/>
            </a:pPr>
            <a:r>
              <a:t>~10,000+ posts per week across all tickers</a:t>
            </a:r>
          </a:p>
          <a:p>
            <a:pPr lvl="1">
              <a:defRPr sz="1600"/>
            </a:pPr>
            <a:r>
              <a:t>3-4 weeks of continuous data collection</a:t>
            </a:r>
          </a:p>
          <a:p>
            <a:pPr lvl="1">
              <a:defRPr sz="1600"/>
            </a:pPr>
            <a:r>
              <a:t>All APIs offer free tiers sufficient for academic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Sentiment Analysis (Hybrid Approach):</a:t>
            </a:r>
          </a:p>
          <a:p>
            <a:pPr lvl="1">
              <a:defRPr sz="1600"/>
            </a:pPr>
            <a:r>
              <a:t>VADER: Fast, rule-based sentiment for social media posts</a:t>
            </a:r>
          </a:p>
          <a:p>
            <a:pPr lvl="1">
              <a:defRPr sz="1600"/>
            </a:pPr>
            <a:r>
              <a:t>FinBERT: Deep learning model for financial language</a:t>
            </a:r>
          </a:p>
          <a:p>
            <a:pPr lvl="1">
              <a:defRPr sz="1600"/>
            </a:pPr>
            <a:r>
              <a:t>Engagement-weighted scoring (upvotes + comments)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Cascade Detection Algorithm:</a:t>
            </a:r>
          </a:p>
          <a:p>
            <a:pPr lvl="1">
              <a:defRPr sz="1600"/>
            </a:pPr>
            <a:r>
              <a:t>Calculate sentiment velocity (rate of change)</a:t>
            </a:r>
          </a:p>
          <a:p>
            <a:pPr lvl="1">
              <a:defRPr sz="1600"/>
            </a:pPr>
            <a:r>
              <a:t>Measure volume deltas (posting frequency spikes)</a:t>
            </a:r>
          </a:p>
          <a:p>
            <a:pPr lvl="1">
              <a:defRPr sz="1600"/>
            </a:pPr>
            <a:r>
              <a:t>Track engagement deltas (community activation)</a:t>
            </a:r>
          </a:p>
          <a:p>
            <a:pPr lvl="1">
              <a:defRPr sz="1600"/>
            </a:pPr>
            <a:r>
              <a:t>Multi-signal score: 40% sentiment + 35% volume + 25% engagement</a:t>
            </a:r>
          </a:p>
          <a:p>
            <a:pPr lvl="1">
              <a:defRPr sz="1600"/>
            </a:pPr>
            <a:r>
              <a:t>Adaptive thresholds based on each asset's volatility profile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Pattern Recognition:</a:t>
            </a:r>
          </a:p>
          <a:p>
            <a:pPr lvl="1">
              <a:defRPr sz="1600"/>
            </a:pPr>
            <a:r>
              <a:t>Pump-and-dump detection: rapid positive spike + concentrated posting</a:t>
            </a:r>
          </a:p>
          <a:p>
            <a:pPr lvl="1">
              <a:defRPr sz="1600"/>
            </a:pPr>
            <a:r>
              <a:t>Retail vs. institutional divergence tracking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Statistical Analysis:</a:t>
            </a:r>
          </a:p>
          <a:p>
            <a:pPr lvl="1">
              <a:defRPr sz="1600"/>
            </a:pPr>
            <a:r>
              <a:t>Correlation: sentiment velocity → price volatility (R² calculation)</a:t>
            </a:r>
          </a:p>
          <a:p>
            <a:pPr lvl="1">
              <a:defRPr sz="1600"/>
            </a:pPr>
            <a:r>
              <a:t>Lead time analysis: how far ahead do cascades predict moves?</a:t>
            </a:r>
          </a:p>
          <a:p>
            <a:pPr lvl="1">
              <a:defRPr sz="1600"/>
            </a:pPr>
            <a:r>
              <a:t>Comparative statistics: stocks vs. crypto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Answered by Our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Predictive Power:</a:t>
            </a:r>
          </a:p>
          <a:p>
            <a:pPr lvl="1">
              <a:defRPr sz="1600"/>
            </a:pPr>
            <a:r>
              <a:t>Do sentiment cascades precede price volatility?</a:t>
            </a:r>
          </a:p>
          <a:p>
            <a:pPr lvl="1">
              <a:defRPr sz="1600"/>
            </a:pPr>
            <a:r>
              <a:t>What is the optimal lead time (1hr, 6hr, 24hr)?</a:t>
            </a:r>
          </a:p>
          <a:p>
            <a:pPr lvl="1">
              <a:defRPr sz="1600"/>
            </a:pPr>
            <a:r>
              <a:t>What correlation strength exists (R² target: &gt;0.4 crypto, &gt;0.3 stocks)?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Market Comparison:</a:t>
            </a:r>
          </a:p>
          <a:p>
            <a:pPr lvl="1">
              <a:defRPr sz="1600"/>
            </a:pPr>
            <a:r>
              <a:t>Are crypto cascades faster/more frequent than stock cascades?</a:t>
            </a:r>
          </a:p>
          <a:p>
            <a:pPr lvl="1">
              <a:defRPr sz="1600"/>
            </a:pPr>
            <a:r>
              <a:t>Do different asset classes require different detection thresholds?</a:t>
            </a:r>
          </a:p>
          <a:p>
            <a:pPr lvl="1">
              <a:defRPr sz="1600"/>
            </a:pPr>
            <a:r>
              <a:t>Which market is more susceptible to social sentiment?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Pattern Detection:</a:t>
            </a:r>
          </a:p>
          <a:p>
            <a:pPr lvl="1">
              <a:defRPr sz="1600"/>
            </a:pPr>
            <a:r>
              <a:t>Can we identify pump-and-dump schemes algorithmically?</a:t>
            </a:r>
          </a:p>
          <a:p>
            <a:pPr lvl="1">
              <a:defRPr sz="1600"/>
            </a:pPr>
            <a:r>
              <a:t>Does retail-institutional divergence predict reversals?</a:t>
            </a:r>
          </a:p>
          <a:p>
            <a:pPr lvl="1">
              <a:defRPr sz="1600"/>
            </a:pPr>
            <a:r>
              <a:t>Which tickers show strongest sentiment-price coupling?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Practical Applications:</a:t>
            </a:r>
          </a:p>
          <a:p>
            <a:pPr lvl="1">
              <a:defRPr sz="1600"/>
            </a:pPr>
            <a:r>
              <a:t>Can retail traders use this as risk management tool?</a:t>
            </a:r>
          </a:p>
          <a:p>
            <a:pPr lvl="1">
              <a:defRPr sz="1600"/>
            </a:pPr>
            <a:r>
              <a:t>Could regulators detect market manipulation earlier?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Microservices Architecture:</a:t>
            </a:r>
          </a:p>
          <a:p>
            <a:pPr lvl="1">
              <a:defRPr sz="1600"/>
            </a:pPr>
            <a:r>
              <a:t>Railway Platform: 5 microservices + PostgreSQL + Redis</a:t>
            </a:r>
          </a:p>
          <a:p>
            <a:pPr lvl="1">
              <a:defRPr sz="1600"/>
            </a:pPr>
            <a:r>
              <a:t>Vercel: Next.js dashboard frontend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Backend Services:</a:t>
            </a:r>
          </a:p>
          <a:p>
            <a:pPr lvl="1">
              <a:defRPr sz="1600"/>
            </a:pPr>
            <a:r>
              <a:t>Data Collector: Python/FastAPI (Reddit, News, Market data)</a:t>
            </a:r>
          </a:p>
          <a:p>
            <a:pPr lvl="1">
              <a:defRPr sz="1600"/>
            </a:pPr>
            <a:r>
              <a:t>Sentiment Processor: VADER + FinBERT hybrid pipeline</a:t>
            </a:r>
          </a:p>
          <a:p>
            <a:pPr lvl="1">
              <a:defRPr sz="1600"/>
            </a:pPr>
            <a:r>
              <a:t>Cascade Detector: Multi-signal algorithm with adaptive thresholds</a:t>
            </a:r>
          </a:p>
          <a:p>
            <a:pPr lvl="1">
              <a:defRPr sz="1600"/>
            </a:pPr>
            <a:r>
              <a:t>Alert Engine: Real-time monitoring and notification system</a:t>
            </a:r>
          </a:p>
          <a:p>
            <a:pPr lvl="1">
              <a:defRPr sz="1600"/>
            </a:pPr>
            <a:r>
              <a:t>API Gateway: REST endpoints for dashboard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Dashboard Features:</a:t>
            </a:r>
          </a:p>
          <a:p>
            <a:pPr lvl="1">
              <a:defRPr sz="1600"/>
            </a:pPr>
            <a:r>
              <a:t>Real-time sentiment vs. price charts</a:t>
            </a:r>
          </a:p>
          <a:p>
            <a:pPr lvl="1">
              <a:defRPr sz="1600"/>
            </a:pPr>
            <a:r>
              <a:t>Active cascade alerts (Yellow/Orange/Red levels)</a:t>
            </a:r>
          </a:p>
          <a:p>
            <a:pPr lvl="1">
              <a:defRPr sz="1600"/>
            </a:pPr>
            <a:r>
              <a:t>Stocks vs. crypto comparison view</a:t>
            </a:r>
          </a:p>
          <a:p>
            <a:pPr lvl="1">
              <a:defRPr sz="1600"/>
            </a:pPr>
            <a:r>
              <a:t>Historical playback and data export for research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Total Project Cost: $25-50 for 4 weeks (using free tiers + Railway credits)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(4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Week 1: Foundation &amp; Data Collection (Nov 4-10)</a:t>
            </a:r>
          </a:p>
          <a:p>
            <a:pPr lvl="1">
              <a:defRPr sz="1600"/>
            </a:pPr>
            <a:r>
              <a:t>Deploy Railway infrastructure and PostgreSQL database</a:t>
            </a:r>
          </a:p>
          <a:p>
            <a:pPr lvl="1">
              <a:defRPr sz="1600"/>
            </a:pPr>
            <a:r>
              <a:t>Build data collectors for Reddit, StockTwits, NewsAPI</a:t>
            </a:r>
          </a:p>
          <a:p>
            <a:pPr lvl="1">
              <a:defRPr sz="1600"/>
            </a:pPr>
            <a:r>
              <a:t>Begin collecting 7 days of baseline data</a:t>
            </a:r>
          </a:p>
          <a:p>
            <a:pPr lvl="1">
              <a:defRPr sz="1600"/>
            </a:pPr>
            <a:r>
              <a:t>Milestone: Data Pipeline Operational (10k+ posts collected)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2: Sentiment &amp; Cascade Detection (Nov 11-17)</a:t>
            </a:r>
          </a:p>
          <a:p>
            <a:pPr lvl="1">
              <a:defRPr sz="1600"/>
            </a:pPr>
            <a:r>
              <a:t>Implement VADER + FinBERT hybrid sentiment analysis</a:t>
            </a:r>
          </a:p>
          <a:p>
            <a:pPr lvl="1">
              <a:defRPr sz="1600"/>
            </a:pPr>
            <a:r>
              <a:t>Build cascade detection algorithm with adaptive thresholds</a:t>
            </a:r>
          </a:p>
          <a:p>
            <a:pPr lvl="1">
              <a:defRPr sz="1600"/>
            </a:pPr>
            <a:r>
              <a:t>Generate first week of cascade events</a:t>
            </a:r>
          </a:p>
          <a:p>
            <a:pPr lvl="1">
              <a:defRPr sz="1600"/>
            </a:pPr>
            <a:r>
              <a:t>Milestone: Cascade Detection Live (20+ cascades detected)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3: Dashboard &amp; Analysis (Nov 18-24)</a:t>
            </a:r>
          </a:p>
          <a:p>
            <a:pPr lvl="1">
              <a:defRPr sz="1600"/>
            </a:pPr>
            <a:r>
              <a:t>Deploy Vercel dashboard with core features</a:t>
            </a:r>
          </a:p>
          <a:p>
            <a:pPr lvl="1">
              <a:defRPr sz="1600"/>
            </a:pPr>
            <a:r>
              <a:t>Implement pump-and-dump pattern detection</a:t>
            </a:r>
          </a:p>
          <a:p>
            <a:pPr lvl="1">
              <a:defRPr sz="1600"/>
            </a:pPr>
            <a:r>
              <a:t>Conduct initial research analysis (correlations, statistics)</a:t>
            </a:r>
          </a:p>
          <a:p>
            <a:pPr lvl="1">
              <a:defRPr sz="1600"/>
            </a:pPr>
            <a:r>
              <a:t>Milestone: Dashboard Demo-Ready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-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Week 4: Polish &amp; Research Paper (Nov 25 - Dec 1)</a:t>
            </a:r>
          </a:p>
          <a:p>
            <a:pPr lvl="1">
              <a:defRPr sz="1600"/>
            </a:pPr>
            <a:r>
              <a:t>Complete data export functionality</a:t>
            </a:r>
          </a:p>
          <a:p>
            <a:pPr lvl="1">
              <a:defRPr sz="1600"/>
            </a:pPr>
            <a:r>
              <a:t>Draft 15-20 page research paper</a:t>
            </a:r>
          </a:p>
          <a:p>
            <a:pPr lvl="1">
              <a:defRPr sz="1600"/>
            </a:pPr>
            <a:r>
              <a:t>Create data visualizations for paper</a:t>
            </a:r>
          </a:p>
          <a:p>
            <a:pPr lvl="1">
              <a:defRPr sz="1600"/>
            </a:pPr>
            <a:r>
              <a:t>Prepare final presentation and demo video</a:t>
            </a:r>
          </a:p>
          <a:p>
            <a:pPr lvl="1">
              <a:defRPr sz="1600"/>
            </a:pPr>
            <a:r>
              <a:t>Final testing and bug fixes</a:t>
            </a:r>
          </a:p>
          <a:p>
            <a:pPr lvl="1">
              <a:defRPr sz="1600"/>
            </a:pPr>
            <a:r>
              <a:t>Milestone: Project Complete - Ready for submission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Current Status:</a:t>
            </a:r>
          </a:p>
          <a:p>
            <a:pPr lvl="1">
              <a:defRPr sz="1600"/>
            </a:pPr>
            <a:r>
              <a:t>Week 1 in progress: Infrastructure setup underway</a:t>
            </a:r>
          </a:p>
          <a:p>
            <a:pPr lvl="1">
              <a:defRPr sz="1600"/>
            </a:pPr>
            <a:r>
              <a:t>Data collection starting this week</a:t>
            </a:r>
          </a:p>
          <a:p>
            <a:pPr lvl="1">
              <a:defRPr sz="1600"/>
            </a:pPr>
            <a:r>
              <a:t>On track for 3+ weeks of data before final presentation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Success Metrics:</a:t>
            </a:r>
          </a:p>
          <a:p>
            <a:pPr lvl="1">
              <a:defRPr sz="1600"/>
            </a:pPr>
            <a:r>
              <a:t>50+ cascade events detected across all tickers</a:t>
            </a:r>
          </a:p>
          <a:p>
            <a:pPr lvl="1">
              <a:defRPr sz="1600"/>
            </a:pPr>
            <a:r>
              <a:t>&gt;60% cascade detection precision</a:t>
            </a:r>
          </a:p>
          <a:p>
            <a:pPr lvl="1">
              <a:defRPr sz="1600"/>
            </a:pPr>
            <a:r>
              <a:t>Measurable difference in stock vs. crypto behavior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Academic Contributions:</a:t>
            </a:r>
          </a:p>
          <a:p>
            <a:pPr lvl="1">
              <a:defRPr sz="1600"/>
            </a:pPr>
            <a:r>
              <a:t>Novel multi-signal cascade detection methodology</a:t>
            </a:r>
          </a:p>
          <a:p>
            <a:pPr lvl="1">
              <a:defRPr sz="1600"/>
            </a:pPr>
            <a:r>
              <a:t>First systematic comparison of stock vs. crypto sentiment cascades</a:t>
            </a:r>
          </a:p>
          <a:p>
            <a:pPr lvl="1">
              <a:defRPr sz="1600"/>
            </a:pPr>
            <a:r>
              <a:t>Adaptive threshold algorithm for different asset volatility profiles</a:t>
            </a:r>
          </a:p>
          <a:p>
            <a:pPr lvl="1">
              <a:defRPr sz="1600"/>
            </a:pPr>
            <a:r>
              <a:t>Pump-and-dump detection framework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Practical Value:</a:t>
            </a:r>
          </a:p>
          <a:p>
            <a:pPr lvl="1">
              <a:defRPr sz="1600"/>
            </a:pPr>
            <a:r>
              <a:t>Working dashboard for real-time sentiment monitoring</a:t>
            </a:r>
          </a:p>
          <a:p>
            <a:pPr lvl="1">
              <a:defRPr sz="1600"/>
            </a:pPr>
            <a:r>
              <a:t>Exportable dataset for future research</a:t>
            </a:r>
          </a:p>
          <a:p>
            <a:pPr lvl="1">
              <a:defRPr sz="1600"/>
            </a:pPr>
            <a:r>
              <a:t>Open-source codebase for reproducibility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Potential Impact:</a:t>
            </a:r>
          </a:p>
          <a:p>
            <a:pPr lvl="1">
              <a:defRPr sz="1600"/>
            </a:pPr>
            <a:r>
              <a:t>Risk management tool for retail traders</a:t>
            </a:r>
          </a:p>
          <a:p>
            <a:pPr lvl="1">
              <a:defRPr sz="1600"/>
            </a:pPr>
            <a:r>
              <a:t>Market surveillance application for regulators</a:t>
            </a:r>
          </a:p>
          <a:p>
            <a:pPr lvl="1">
              <a:defRPr sz="1600"/>
            </a:pPr>
            <a:r>
              <a:t>Foundation for future FinTech startup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Publication Potential:</a:t>
            </a:r>
          </a:p>
          <a:p>
            <a:pPr lvl="1">
              <a:defRPr sz="1600"/>
            </a:pPr>
            <a:r>
              <a:t>Suitable for finance/data science journals</a:t>
            </a:r>
          </a:p>
          <a:p>
            <a:pPr lvl="1">
              <a:defRPr sz="1600"/>
            </a:pPr>
            <a:r>
              <a:t>Presentation at student research conferences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Technical Risks:</a:t>
            </a:r>
          </a:p>
          <a:p>
            <a:pPr lvl="1">
              <a:defRPr sz="1600"/>
            </a:pPr>
            <a:r>
              <a:t>Reddit API rate limits → Use PRAW library with exponential backoff</a:t>
            </a:r>
          </a:p>
          <a:p>
            <a:pPr lvl="1">
              <a:defRPr sz="1600"/>
            </a:pPr>
            <a:r>
              <a:t>FinBERT processing slow → Batch processing, fallback to VADER only</a:t>
            </a:r>
          </a:p>
          <a:p>
            <a:pPr lvl="1">
              <a:defRPr sz="1600"/>
            </a:pPr>
            <a:r>
              <a:t>Railway costs exceed budget → Monitor daily, reduce frequency if needed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Research Risks:</a:t>
            </a:r>
          </a:p>
          <a:p>
            <a:pPr lvl="1">
              <a:defRPr sz="1600"/>
            </a:pPr>
            <a:r>
              <a:t>False positive cascades → Document honestly, tune thresholds with data</a:t>
            </a:r>
          </a:p>
          <a:p>
            <a:pPr lvl="1">
              <a:defRPr sz="1600"/>
            </a:pPr>
            <a:r>
              <a:t>Low correlation results → Still academically valuable (null results matter)</a:t>
            </a:r>
          </a:p>
          <a:p>
            <a:pPr lvl="1">
              <a:defRPr sz="1600"/>
            </a:pPr>
            <a:r>
              <a:t>Insufficient data quality → Validation checks, engagement thresholds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Timeline Risks:</a:t>
            </a:r>
          </a:p>
          <a:p>
            <a:pPr lvl="1">
              <a:defRPr sz="1600"/>
            </a:pPr>
            <a:r>
              <a:t>Not enough time for features → Focus on MUST-HAVEs first (MoSCoW)</a:t>
            </a:r>
          </a:p>
          <a:p>
            <a:pPr lvl="1">
              <a:defRPr sz="1600"/>
            </a:pPr>
            <a:r>
              <a:t>Paper + basic dashboard &gt; fancy features alone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Overall Risk Level: MEDIUM</a:t>
            </a:r>
          </a:p>
          <a:p>
            <a:pPr lvl="1">
              <a:defRPr sz="1600"/>
            </a:pPr>
            <a:r>
              <a:t>Well-scoped project with clear priorities</a:t>
            </a:r>
          </a:p>
          <a:p>
            <a:pPr lvl="1">
              <a:defRPr sz="1600"/>
            </a:pPr>
            <a:r>
              <a:t>Realistic timeline with buffer built 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Discussion Topics:</a:t>
            </a:r>
          </a:p>
          <a:p>
            <a:pPr lvl="1">
              <a:defRPr sz="1600"/>
            </a:pPr>
            <a:r>
              <a:t>What additional data sources would strengthen this analysis?</a:t>
            </a:r>
          </a:p>
          <a:p>
            <a:pPr lvl="1">
              <a:defRPr sz="1600"/>
            </a:pPr>
            <a:r>
              <a:t>Are there specific tickers or market events we should focus on?</a:t>
            </a:r>
          </a:p>
          <a:p>
            <a:pPr lvl="1">
              <a:defRPr sz="1600"/>
            </a:pPr>
            <a:r>
              <a:t>What academic journals would be most interested in these findings?</a:t>
            </a:r>
          </a:p>
          <a:p>
            <a:pPr lvl="1">
              <a:defRPr sz="1600"/>
            </a:pPr>
            <a:r>
              <a:t>Should we consider adding Twitter/X data (requires paid API)?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Contact Information:</a:t>
            </a:r>
          </a:p>
          <a:p>
            <a:pPr lvl="1">
              <a:defRPr sz="1600"/>
            </a:pPr>
            <a:r>
              <a:t>Student: Cruz Flores</a:t>
            </a:r>
          </a:p>
          <a:p>
            <a:pPr lvl="1">
              <a:defRPr sz="1600"/>
            </a:pPr>
            <a:r>
              <a:t>Course: FIN 494 - Financial Technology &amp; Innovation</a:t>
            </a:r>
          </a:p>
          <a:p>
            <a:pPr lvl="1">
              <a:defRPr sz="1600"/>
            </a:pPr>
            <a:r>
              <a:t>Project Repository: [Will be provided]</a:t>
            </a:r>
          </a:p>
          <a:p>
            <a:pPr lvl="1">
              <a:defRPr sz="1600"/>
            </a:pPr>
            <a:r>
              <a:t>Dashboard URL: [Will be deployed to Vercel]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